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7D60"/>
                </a:solidFill>
                <a:latin typeface="Calibri"/>
              </a:rPr>
              <a:t>TP2 · Checkpoint de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Efeito Dominó no Mercado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de Transferências de Futebol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Calibri"/>
              </a:rPr>
              <a:t>O "Prêmio do Vendedor" em Compras Subsequentes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Grupo 02  ·  Ciência de Dados Aplicada ao Futebol  ·  UFMG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Calibri"/>
              </a:rPr>
              <a:t>Carlos · César · Letícia · Lucas · Lucca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Junho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Pergunta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Recap da proposta inicial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155448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27D60"/>
                </a:solidFill>
                <a:latin typeface="Calibri"/>
              </a:rPr>
              <a:t>Pergunta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Dada uma venda realizada pelo Time A em uma janela de transferência, qual é a probabilidade de que outros clubes (B, C, D) vendam um jogador para o Time A por um preço acima do valor de mercado de referência em compras subsequentes dentro da mesma janela?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Hipótese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972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E27D60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Clubes recém-capitalizados perdem poder de barganha e pagam um prêmio (sobrepreço) nas contratações seguintes — o "prêmio do vendedor".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27D60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O efeito é causal, e não apenas correlação devida a "clubes ricos" que naturalmente vendem caro e compram caro.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Por que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E27D60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Aplicação direta em inteligência de mercado de clubes profissionais.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E27D60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Inovação metodológica: foco em preço e contexto temporal, não em estrutura de rede.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Estratégia de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Arquitetura em duas etapas sequenciais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94960" cy="4023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94960" cy="4572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ETAPA 1  ·  Predição do Preço Hedônico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Objetivo:</a:t>
            </a:r>
            <a:r>
              <a:rPr sz="1200">
                <a:solidFill>
                  <a:srgbClr val="1F2A44"/>
                </a:solidFill>
                <a:latin typeface="Calibri"/>
              </a:rPr>
              <a:t> estimar o "preço justo" do jogador via ML.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Target:</a:t>
            </a:r>
            <a:r>
              <a:rPr sz="1200">
                <a:solidFill>
                  <a:srgbClr val="1F2A44"/>
                </a:solidFill>
                <a:latin typeface="Calibri"/>
              </a:rPr>
              <a:t> ln(fee) — log do valor da transação.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Features:</a:t>
            </a:r>
            <a:r>
              <a:rPr sz="1200">
                <a:solidFill>
                  <a:srgbClr val="1F2A44"/>
                </a:solidFill>
                <a:latin typeface="Calibri"/>
              </a:rPr>
              <a:t> age, age², log(market_value), posição,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           </a:t>
            </a:r>
            <a:r>
              <a:rPr sz="1200">
                <a:solidFill>
                  <a:srgbClr val="1F2A44"/>
                </a:solidFill>
                <a:latin typeface="Calibri"/>
              </a:rPr>
              <a:t> liga (dummies), efeitos fixos de temporada.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Modelos:</a:t>
            </a:r>
            <a:r>
              <a:rPr sz="1200">
                <a:solidFill>
                  <a:srgbClr val="1F2A44"/>
                </a:solidFill>
                <a:latin typeface="Calibri"/>
              </a:rPr>
              <a:t> XGBoost · LightGBM · Random Forest · SVR.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Validação:</a:t>
            </a:r>
            <a:r>
              <a:rPr sz="1200">
                <a:solidFill>
                  <a:srgbClr val="1F2A44"/>
                </a:solidFill>
                <a:latin typeface="Calibri"/>
              </a:rPr>
              <a:t> CV 5-fold + split temporal 2023-24 / 2025.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Saída:</a:t>
            </a:r>
            <a:r>
              <a:rPr sz="1200">
                <a:solidFill>
                  <a:srgbClr val="1F2A44"/>
                </a:solidFill>
                <a:latin typeface="Calibri"/>
              </a:rPr>
              <a:t> resíduo Yᵢ,c = ln(P) − ln(P̂)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         </a:t>
            </a:r>
            <a:r>
              <a:rPr sz="1200">
                <a:solidFill>
                  <a:srgbClr val="1F2A44"/>
                </a:solidFill>
                <a:latin typeface="Calibri"/>
              </a:rPr>
              <a:t> → "prêmio de reinvestimento" puro.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394960" cy="4023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394960" cy="4572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3619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ETAPA 2  ·  Estimação Causal (Double 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Objetivo:</a:t>
            </a:r>
            <a:r>
              <a:rPr sz="1200">
                <a:solidFill>
                  <a:srgbClr val="1F2A44"/>
                </a:solidFill>
                <a:latin typeface="Calibri"/>
              </a:rPr>
              <a:t> isolar o efeito causal da liquidez recente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           </a:t>
            </a:r>
            <a:r>
              <a:rPr sz="1200">
                <a:solidFill>
                  <a:srgbClr val="1F2A44"/>
                </a:solidFill>
                <a:latin typeface="Calibri"/>
              </a:rPr>
              <a:t> do clube sobre o prêmio pago.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Tratamento (D):</a:t>
            </a:r>
            <a:r>
              <a:rPr sz="1200">
                <a:solidFill>
                  <a:srgbClr val="1F2A44"/>
                </a:solidFill>
                <a:latin typeface="Calibri"/>
              </a:rPr>
              <a:t> log_revenue — Σ vendas na temporada.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Y:</a:t>
            </a:r>
            <a:r>
              <a:rPr sz="1200">
                <a:solidFill>
                  <a:srgbClr val="1F2A44"/>
                </a:solidFill>
                <a:latin typeface="Calibri"/>
              </a:rPr>
              <a:t> resíduo hedônico out-of-fold da Etapa 1.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W (confound.):</a:t>
            </a:r>
            <a:r>
              <a:rPr sz="1200">
                <a:solidFill>
                  <a:srgbClr val="1F2A44"/>
                </a:solidFill>
                <a:latin typeface="Calibri"/>
              </a:rPr>
              <a:t> elenco + rede + liga + temporada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           </a:t>
            </a:r>
            <a:r>
              <a:rPr sz="1200">
                <a:solidFill>
                  <a:srgbClr val="1F2A44"/>
                </a:solidFill>
                <a:latin typeface="Calibri"/>
              </a:rPr>
              <a:t> (19 vars; sem bloco financeiro direto).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Algoritmo:</a:t>
            </a:r>
            <a:r>
              <a:rPr sz="1200">
                <a:solidFill>
                  <a:srgbClr val="1F2A44"/>
                </a:solidFill>
                <a:latin typeface="Calibri"/>
              </a:rPr>
              <a:t> DML manual (Robinson) + R-learner;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           </a:t>
            </a:r>
            <a:r>
              <a:rPr sz="1200">
                <a:solidFill>
                  <a:srgbClr val="1F2A44"/>
                </a:solidFill>
                <a:latin typeface="Calibri"/>
              </a:rPr>
              <a:t> SE HC1 e clusterizado clube×temporada.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B3D91"/>
                </a:solidFill>
                <a:latin typeface="Calibri"/>
              </a:rPr>
              <a:t>Saída:</a:t>
            </a:r>
            <a:r>
              <a:rPr sz="1200">
                <a:solidFill>
                  <a:srgbClr val="1F2A44"/>
                </a:solidFill>
                <a:latin typeface="Calibri"/>
              </a:rPr>
              <a:t> θ̂ (ATE) + heterogeneidade por clube.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3246120"/>
            <a:ext cx="320040" cy="457200"/>
          </a:xfrm>
          <a:prstGeom prst="rightArrow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3D91"/>
                </a:solidFill>
                <a:latin typeface="Calibri"/>
              </a:rPr>
              <a:t>Por que esta arquitetura?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Separar predição (Etapa 1) de inferência causal (Etapa 2) é o padrão do estado da arte (Chernozhukov et al., 2018). Garante que ML não-linear capture os fundamentos do jogador sem viesar a estimativa do parâmetro causal de interesse.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Etapa 1 · Resultados Comparativos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4 modelos · CV 5-fold + holdout temporal (test =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097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93215"/>
                <a:gridCol w="1493215"/>
                <a:gridCol w="1493215"/>
                <a:gridCol w="1493215"/>
                <a:gridCol w="1493215"/>
                <a:gridCol w="1493215"/>
              </a:tblGrid>
              <a:tr h="43891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CV RMSE (μ)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CV RMSE (σ)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CV R² (μ)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Test RMSE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0.6854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0.7218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0.6939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0.5005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0.7463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0.6770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0.7289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0.6826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0.4948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0.7545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A44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54864" marR="54864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F2A44"/>
                          </a:solidFill>
                          <a:latin typeface="Calibri"/>
                        </a:rPr>
                        <a:t>0.6738</a:t>
                      </a:r>
                    </a:p>
                  </a:txBody>
                  <a:tcPr marL="54864" marR="54864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F2A44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54864" marR="54864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F2A44"/>
                          </a:solidFill>
                          <a:latin typeface="Calibri"/>
                        </a:rPr>
                        <a:t>0.7311</a:t>
                      </a:r>
                    </a:p>
                  </a:txBody>
                  <a:tcPr marL="54864" marR="54864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F2A44"/>
                          </a:solidFill>
                          <a:latin typeface="Calibri"/>
                        </a:rPr>
                        <a:t>0.6726</a:t>
                      </a:r>
                    </a:p>
                  </a:txBody>
                  <a:tcPr marL="54864" marR="54864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F2A44"/>
                          </a:solidFill>
                          <a:latin typeface="Calibri"/>
                        </a:rPr>
                        <a:t>0.4898</a:t>
                      </a:r>
                    </a:p>
                  </a:txBody>
                  <a:tcPr marL="54864" marR="54864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F2A44"/>
                          </a:solidFill>
                          <a:latin typeface="Calibri"/>
                        </a:rPr>
                        <a:t>0.7616</a:t>
                      </a:r>
                    </a:p>
                  </a:txBody>
                  <a:tcPr marL="54864" marR="54864" marT="36576" marB="36576">
                    <a:solidFill>
                      <a:srgbClr val="E8F5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SVR (RBF)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0.7026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0.7078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0.7164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0.5171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0.7296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794760"/>
            <a:ext cx="10972800" cy="5029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✓  Vencedor: Random Forest — Test RMSE 0.6726 · Test R² 0.7616 · OOB R² 0.7354.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Métricas escolhidas e por quê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9728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27D60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Target contínuo (ln fee) ⇒ problema de regressão (não classificação).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27D60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RMSE: penaliza erros grandes — relevante porque fees variam de €250k a €100M+.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27D60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MAE: interpretação direta em escala log; robusto a outliers.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27D60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R²: padrão na literatura hedônica (Tilburg, Emerald, ResearchGate reportam 0.70–0.80).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27D60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Generalização: CV ~ Test (gap &lt; 5%) indica ausência de overfitting relevante.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Configuração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Reprodutibilidade · seed=42 · features=19 · n=5.146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43891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Hiperparâmetros (configuração atual)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n_estimators=500 · max_depth=5 · learning_rate=0.05 · subsample=0.8 · colsample_bytree=0.8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n_estimators=500 · max_depth=5 · learning_rate=0.05 · subsample=0.8 · colsample_bytree=0.8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n_estimators=500 · max_depth=10 · min_samples_leaf=5 · oob_score=True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SVR (RBF)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alibri"/>
                        </a:rPr>
                        <a:t>kernel='rbf' · C=10 · ε=0.1 · γ='scale' · pipeline com StandardScaler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Pipeline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54864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Filtro: fee_type='paid', direction='In', fee ≥ €250k.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Winsorização do premium_ratio em 1–99%.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Transformações log: log_fee, log_mv, log_league_mv.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Resíduo hedônico out-of-fold + features de rede (PageRank).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Dataset final: 5.146 transferências × 7 ligas × 8 temporadas.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947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Avaliação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KFold 5 folds (shuffle=True, seed=42).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Split temporal: treino = 2017–2024 · teste = 2025.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Resíduo Y via cross_val_predict (out-of-fold, sem vazamento).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Métricas em log-space (RMSE, MAE, R²) + OOB no RF.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TODO próxima iteração: tuning via Optuna / GridSearchCV.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Etapa 1 · Interpretabilidade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Random Forest · TreeExplainer · ranking de impacto preditivo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3D91"/>
                </a:solidFill>
                <a:latin typeface="Calibri"/>
              </a:rPr>
              <a:t>Ranking de importância média |SHAP|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log_mv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901952"/>
            <a:ext cx="2286000" cy="256032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404872"/>
            <a:ext cx="1257300" cy="256032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age_sq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2907792"/>
            <a:ext cx="1028700" cy="256032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liga (dummies)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3410712"/>
            <a:ext cx="685800" cy="256032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375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is_attacker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913632"/>
            <a:ext cx="411479" cy="256032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8404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season_2024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4416552"/>
            <a:ext cx="274320" cy="256032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3434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is_midfielder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4919472"/>
            <a:ext cx="228600" cy="256032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3D91"/>
                </a:solidFill>
                <a:latin typeface="Calibri"/>
              </a:rPr>
              <a:t>O que o SHAP revela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828800"/>
            <a:ext cx="521208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log_mv concentra ~40% do impacto preditivo, consistente com a literatura (Peeters, 2018; Tilburg University).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Bloco age/age² confirma curvatura biológica do valor.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Liga e temporada já capturam C4 (sazonalidade) e parte de C5 (inflação) sem precisar do DML.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Posição entra como controle, com magnitude moderada.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937760"/>
            <a:ext cx="521208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029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3D91"/>
                </a:solidFill>
                <a:latin typeface="Calibri"/>
              </a:rPr>
              <a:t>Estudo de caso na literatura (de Ligt, 2019)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0352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SHAP decompôs o fee de €77,2M em: Team Rating do destino + idade jovem. Nosso pipeline replica essa lógica e está pronto para esse tipo de análise individual por transferência.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Tratamento dos 6 Confundidores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Mapeamento causal e estratégias de neutralização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4937760"/>
                <a:gridCol w="2194560"/>
              </a:tblGrid>
              <a:tr h="56170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Confundidor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Estratégia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36576" marB="36576">
                    <a:solidFill>
                      <a:srgbClr val="0B3D9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Poder financeiro do clube ("clube rico")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Proxies de rede + elenco em W (sem bloco financeiro)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Etapa 2 (W)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Causalidade reversa (compra precede venda)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Teste de lag t-1 (enfraquece; não conclusivo)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Robustez · parcial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Planejamento estratégico (causa comum)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Exige contexto: UCL, troca de técnico, receita TV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Limitação · futuro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Calendário / sazonalidade (deadline day)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Dummies de temporada em FE (Etapa 1) e em W (Etapa 2)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Etapa 1 + 2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Choques inflacionários de mercado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Dummies de liga + temporada em 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Etapa 1 + 2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C6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Viés de seleção do grupo tratado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Features de rede + elenco em W (PSM = futuro)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Etapa 2 (W)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3D91"/>
                </a:solidFill>
                <a:latin typeface="Calibri"/>
              </a:rPr>
              <a:t>Por que isto é o coração do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Sem controlar C1–C6, qualquer correlação observada seria espúria. É essa disciplina causal que diferencia o trabalho de um valuation comum.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Insights Preliminares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 que os dados já estão dizendo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5661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566160" cy="914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0B3D91"/>
                </a:solidFill>
                <a:latin typeface="Calibri"/>
              </a:rPr>
              <a:t>52,5%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das transferências apresentam sobrepreço</a:t>
            </a:r>
          </a:p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em relação ao valor hedônico estimado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661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566160" cy="9144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E27D60"/>
                </a:solidFill>
                <a:latin typeface="Calibri"/>
              </a:rPr>
              <a:t>76,2%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7180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da variância de ln(fee) é explicada</a:t>
            </a:r>
          </a:p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pelo modelo Random Forest no teste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35661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566160" cy="91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745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E7D32"/>
                </a:solidFill>
                <a:latin typeface="Calibri"/>
              </a:rPr>
              <a:t>+3,5%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97180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mediana do prêmio: leve sobrepreço médio</a:t>
            </a:r>
          </a:p>
          <a:p>
            <a:pPr algn="ctr"/>
            <a:r>
              <a:rPr sz="1200" b="0">
                <a:solidFill>
                  <a:srgbClr val="1F2A44"/>
                </a:solidFill>
                <a:latin typeface="Calibri"/>
              </a:rPr>
              <a:t>do mercado sobre o preço justo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Calibri"/>
              </a:rPr>
              <a:t>Observações qualitativas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Resíduo out-of-fold aproximadamente simétrico em torno de zero (média −0.001; mediana +0.035), indicando ausência de viés sistemático e validando o uso na Etapa 2.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Resíduo gerado sem vazamento (cross_val_predict): desvio-padrão 0.671 (vs 0.587 in-sample).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log_mv do Transfermarkt domina o sinal preditivo — alinhado a Peeters (2018).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Quartil 25 = −38% / Quartil 75 = +41%: 50% das transferências negociadas em margem normal.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27D60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Hipótese respondida na Etapa 2: efeito médio nulo, mas significativo em 2022–2023.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Roteiro até a entrega final do TP3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0292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508760"/>
            <a:ext cx="914400" cy="4572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002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Semana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1732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Tuning de hiperparâmetros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46504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Optuna nos 4 modelos · target: ganhar 2–4 p.p. de R² · reavaliar SHAP.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50292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286000"/>
            <a:ext cx="914400" cy="4572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Semana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19456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Enriquecimento hedônico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523744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Integrar FBref/StatsBomb: gols, assistências, xG, minutos jogados.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71800"/>
            <a:ext cx="50292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063240"/>
            <a:ext cx="914400" cy="4572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154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Semana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97180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Implementação da Etapa 2 — Double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300984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DML manual (Robinson) + R-learner com cross-fitting de 5 folds.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39"/>
            <a:ext cx="50292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86199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840479"/>
            <a:ext cx="914400" cy="4572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93191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Semana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749039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Métricas inovadoras adaptadas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078223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IVB por clube · θ(PageRank quartil) · θ_t por temporada (proxy de decaimento).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26280"/>
            <a:ext cx="50292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617720"/>
            <a:ext cx="914400" cy="4572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709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Semana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52628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Validação causal (C6)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855464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Propensity Score Matching para pares de clubes "gêmeos".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303520"/>
            <a:ext cx="50292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5394960"/>
            <a:ext cx="914400" cy="4572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86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Semana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5303520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Robustez e entrega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5632704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Análise de sensibilidade · subgrupos por tier de clube · relatório final.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Calibri"/>
              </a:rPr>
              <a:t>Checklist de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Itens revisados antes de fechar 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4572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Gráfico SHAP summary do melhor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4630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Ranking exibido no slide 6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883664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836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83664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Tabela comparativa dos 4 modelos com vencedor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88366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Slide 4 · Random Forest destacado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30428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30428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Diagrama do pipeline Etapa 1 → Etapa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30428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Slide 3 · cards + seta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272491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249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2491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Dimensões da base citadas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72491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5.146 transferências · 7 ligas · 8 temporadas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14553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45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45536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Hiperparâmetros explicitados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14553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Slide 5 · todos os 4 modelos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356616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5661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Justificativa das métricas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5661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Slide 4 · RMSE / MAE / R² em log-space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3986784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867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986784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Mapeamento dos 6 confundidores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98678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Slide 7 · status por etapa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440740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07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40740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Cronograma de próximos passos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4074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Slide 9 · 6 marcos em 3 semanas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" y="482803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280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82803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Limitações reconhecidas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8280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Sem tuning · sem features de performance ainda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" y="524865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248656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Equipe e contexto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24865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Slide 1 · grupo 02 / UFMG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TP2 — Checkpoint · Grupo 02 · Efeito Dominó no Mercado de Transferências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