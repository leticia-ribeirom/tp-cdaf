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Quattrocento Sans" charset="-122" pitchFamily="34"/>
      <p:regular r:id="rId22"/>
    </p:embeddedFont>
    <p:embeddedFont>
      <p:font typeface="Unna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 (efeito da liquidez)</c:v>
                </c:pt>
              </c:strCache>
            </c:strRef>
          </c:tx>
          <c:spPr>
            <a:solidFill>
              <a:srgbClr val="C75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Double ML (não-linear)</c:v>
                  </c:pt>
                  <c:pt idx="1">
                    <c:v>OLS + W (linear)</c:v>
                  </c:pt>
                  <c:pt idx="2">
                    <c:v>OLS sem controles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0.0044</c:v>
                </c:pt>
                <c:pt idx="1">
                  <c:v>0.0051</c:v>
                </c:pt>
                <c:pt idx="2">
                  <c:v>0.0142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E2328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1E2328"/>
                    </a:solidFill>
                    <a:latin typeface="Arial"/>
                  </a:rPr>
                  <a:t>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3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Efeito %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1.2</c:v>
                </c:pt>
                <c:pt idx="2">
                  <c:v>-0.5</c:v>
                </c:pt>
                <c:pt idx="3">
                  <c:v>0.3</c:v>
                </c:pt>
                <c:pt idx="4">
                  <c:v>2.1</c:v>
                </c:pt>
                <c:pt idx="5">
                  <c:v>6.4</c:v>
                </c:pt>
                <c:pt idx="6">
                  <c:v>4.7</c:v>
                </c:pt>
                <c:pt idx="7">
                  <c:v>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E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CCC4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3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E2328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1E2328"/>
                    </a:solidFill>
                    <a:latin typeface="Arial"/>
                  </a:rPr>
                  <a:t>Efeito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pjuume2o6sam/mnt/agents/output/efeito_domino/images/8_1_500_Aerial_Stadium_Night_Stock.png">    </p:cNvPr>
          <p:cNvPicPr>
            <a:picLocks noChangeAspect="1"/>
          </p:cNvPicPr>
          <p:nvPr/>
        </p:nvPicPr>
        <p:blipFill>
          <a:blip r:embed="rId1"/>
          <a:srcRect l="0" r="0" t="12418" b="1241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5C">
                  <a:alpha val="96000"/>
                </a:srgbClr>
              </a:gs>
              <a:gs pos="55000">
                <a:srgbClr val="1B3A5C">
                  <a:alpha val="82000"/>
                </a:srgbClr>
              </a:gs>
              <a:gs pos="100000">
                <a:srgbClr val="1B3A5C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spc="3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· DEMODAY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Efeito Dominó no Mercado de Transferências de Futebol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5085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Existe um "prêmio do vendedor"? Uma abordagem causal (Double ML)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6000" y="558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 02 · Ciência de Dados Aplicada ao Futebol · UFMG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Carlos · César · Letícia · Lucas · Lucca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812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06 / 2026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4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APRESENTAÇÃO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29845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Roteiro da</a:t>
            </a:r>
            <a:endParaRPr lang="en-US" sz="4800" dirty="0"/>
          </a:p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Apresentação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62000" y="49530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5207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contexto às conclusões: uma jornada pelo efeito dominó no mercado de transferências.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0" y="215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21500" y="21844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96000" y="2794000"/>
            <a:ext cx="3937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3175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921500" y="32004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96000" y="3810000"/>
            <a:ext cx="3937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0" y="215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1747500" y="21844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922000" y="2794000"/>
            <a:ext cx="3937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0" y="3175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1747500" y="32004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22000" y="3810000"/>
            <a:ext cx="3937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21500" y="434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 &amp; Implicações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96000" y="4953000"/>
            <a:ext cx="3937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8699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113000" y="86995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Contexto &amp; Problema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mercado de transferências como rede de dependências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1590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20574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Quando um clube faz uma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grande venda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dois sinais chegam ao mercado: ele tem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caixa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precisa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jogador. Os vendedores sabem disso.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5560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41400" y="34544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Intuição — 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"efeito dominó"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esse clube perde poder de barganha e passa a pagar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acima do valor justo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nas compras seguintes.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1968500"/>
            <a:ext cx="7112000" cy="254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1968500"/>
            <a:ext cx="50800" cy="2540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2133600"/>
            <a:ext cx="6553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ARMADILHA ÓBVIA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2540000"/>
            <a:ext cx="6553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Clubes ricos vendem caro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compram caro ao mesmo tempo. Como saber se o que vemos é o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prêmio do vendedor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ou apenas o porte financeiro do clube?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Separar as duas coisas é o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desafio central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trabalho.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080000"/>
            <a:ext cx="14732000" cy="1143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546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0612" y="285750"/>
                </a:moveTo>
                <a:cubicBezTo>
                  <a:pt x="297855" y="269156"/>
                  <a:pt x="312341" y="254124"/>
                  <a:pt x="328712" y="241176"/>
                </a:cubicBezTo>
                <a:cubicBezTo>
                  <a:pt x="361156" y="215578"/>
                  <a:pt x="381000" y="180975"/>
                  <a:pt x="381000" y="142875"/>
                </a:cubicBezTo>
                <a:cubicBezTo>
                  <a:pt x="381000" y="63996"/>
                  <a:pt x="295672" y="0"/>
                  <a:pt x="190500" y="0"/>
                </a:cubicBezTo>
                <a:cubicBezTo>
                  <a:pt x="85328" y="0"/>
                  <a:pt x="0" y="63996"/>
                  <a:pt x="0" y="142875"/>
                </a:cubicBezTo>
                <a:cubicBezTo>
                  <a:pt x="0" y="180975"/>
                  <a:pt x="19844" y="215578"/>
                  <a:pt x="52288" y="241176"/>
                </a:cubicBezTo>
                <a:cubicBezTo>
                  <a:pt x="68659" y="254124"/>
                  <a:pt x="83245" y="269156"/>
                  <a:pt x="90388" y="285750"/>
                </a:cubicBezTo>
                <a:lnTo>
                  <a:pt x="290513" y="285750"/>
                </a:lnTo>
                <a:close/>
                <a:moveTo>
                  <a:pt x="285750" y="321469"/>
                </a:moveTo>
                <a:lnTo>
                  <a:pt x="95250" y="321469"/>
                </a:lnTo>
                <a:lnTo>
                  <a:pt x="95250" y="333375"/>
                </a:lnTo>
                <a:cubicBezTo>
                  <a:pt x="95250" y="366266"/>
                  <a:pt x="130770" y="392906"/>
                  <a:pt x="174625" y="392906"/>
                </a:cubicBezTo>
                <a:lnTo>
                  <a:pt x="206375" y="392906"/>
                </a:lnTo>
                <a:cubicBezTo>
                  <a:pt x="250230" y="392906"/>
                  <a:pt x="285750" y="366266"/>
                  <a:pt x="285750" y="333375"/>
                </a:cubicBezTo>
                <a:lnTo>
                  <a:pt x="285750" y="321469"/>
                </a:lnTo>
                <a:close/>
                <a:moveTo>
                  <a:pt x="182563" y="83344"/>
                </a:moveTo>
                <a:cubicBezTo>
                  <a:pt x="143073" y="83344"/>
                  <a:pt x="111125" y="107305"/>
                  <a:pt x="111125" y="136922"/>
                </a:cubicBezTo>
                <a:cubicBezTo>
                  <a:pt x="111125" y="146819"/>
                  <a:pt x="100509" y="154781"/>
                  <a:pt x="87313" y="154781"/>
                </a:cubicBezTo>
                <a:cubicBezTo>
                  <a:pt x="74116" y="154781"/>
                  <a:pt x="63500" y="146819"/>
                  <a:pt x="63500" y="136922"/>
                </a:cubicBezTo>
                <a:cubicBezTo>
                  <a:pt x="63500" y="87585"/>
                  <a:pt x="116780" y="47625"/>
                  <a:pt x="182563" y="47625"/>
                </a:cubicBezTo>
                <a:cubicBezTo>
                  <a:pt x="195759" y="47625"/>
                  <a:pt x="206375" y="55587"/>
                  <a:pt x="206375" y="65484"/>
                </a:cubicBezTo>
                <a:cubicBezTo>
                  <a:pt x="206375" y="75381"/>
                  <a:pt x="195759" y="83344"/>
                  <a:pt x="182563" y="83344"/>
                </a:cubicBezTo>
                <a:close/>
              </a:path>
            </a:pathLst>
          </a:custGeom>
          <a:solidFill>
            <a:srgbClr val="C75B3A"/>
          </a:solidFill>
          <a:ln/>
        </p:spPr>
      </p:sp>
      <p:sp>
        <p:nvSpPr>
          <p:cNvPr id="22" name="Text 20"/>
          <p:cNvSpPr/>
          <p:nvPr/>
        </p:nvSpPr>
        <p:spPr>
          <a:xfrm>
            <a:off x="1651000" y="5207000"/>
            <a:ext cx="1346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questão não é apenas </a:t>
            </a:r>
            <a:pPr algn="l">
              <a:lnSpc>
                <a:spcPct val="150000"/>
              </a:lnSpc>
            </a:pPr>
            <a:r>
              <a:rPr lang="en-US" sz="16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prêmio existe — é </a:t>
            </a:r>
            <a:pPr algn="l">
              <a:lnSpc>
                <a:spcPct val="150000"/>
              </a:lnSpc>
            </a:pPr>
            <a:r>
              <a:rPr lang="en-US" sz="16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 que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 parece existir quando olhamos de forma ingênua. A resposta está nos confundidores estruturais.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56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6" name="Text 4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Pergunta &amp; Hipótese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Causal, não correlacional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095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OPERACIONAL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2000" y="2476500"/>
            <a:ext cx="14732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2603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liquidez recente do comprador (receita de vendas na temporada) tem efeito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sobre o sobrepreço que ele paga nas contratações seguintes, depois de neutralizar os confundidores estruturais?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19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HIPÓTESE INICIAL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14732000" cy="139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4572000"/>
            <a:ext cx="50800" cy="1397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4699000"/>
            <a:ext cx="1417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 — e o mecanismo seria de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sinalização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não de volume de dinheiro: o clube pagaria mais porque o mercado sabe que ele precisa comprar.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Nota: os dados não sustentam esta conjectura de forma robusta — exemplo de rigor, não de fraqueza.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413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FLUXO LÓGICO DO TRABALHO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2000" y="6794500"/>
            <a:ext cx="2794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67945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Correlação ingênua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"Vender → paga mais"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83000" y="7048500"/>
            <a:ext cx="762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5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6794500"/>
            <a:ext cx="2794000" cy="762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67945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Controlar confundidores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ML + 19 controles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3000" y="7048500"/>
            <a:ext cx="762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5B3A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2000" y="6794500"/>
            <a:ext cx="2794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67945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Efeito causal isolado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θ puro, sem viés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303000" y="7048500"/>
            <a:ext cx="762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5B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2000" y="6794500"/>
            <a:ext cx="3302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12192000" y="6794500"/>
            <a:ext cx="330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Condicional ao regime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Só em mercado aquecido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56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6" name="Text 4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 Armadilha Causal — 6 Confundidores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Mapeados antes de modelar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4318000"/>
        </p:xfrm>
        <a:graphic>
          <a:graphicData uri="http://schemas.openxmlformats.org/drawingml/2006/table">
            <a:tbl>
              <a:tblPr/>
              <a:tblGrid>
                <a:gridCol w="883920"/>
                <a:gridCol w="3241040"/>
                <a:gridCol w="1060704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#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Confundidor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Como tratamos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Clube rico (vende caro E compra caro)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Proxies de rede (PageRank) + elenco em 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Causalidade reversa (compra → venda)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Teste de tratamento defasado (t−1)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Causa comum (UCL, troca de técnico)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75B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Não controlado</a:t>
                      </a:r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(sem dados esportivos)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Sazonalidade (deadline day)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Dummies de temporada (Etapa 1 e W)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Inflação de mercado entre anos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Dummies de temporada absorvem inflação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Viés de seleção do grupo tratado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Proxies de rede + sensibilidade ao corte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Shape 11"/>
          <p:cNvSpPr/>
          <p:nvPr/>
        </p:nvSpPr>
        <p:spPr>
          <a:xfrm>
            <a:off x="10795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C75B3A"/>
          </a:solidFill>
          <a:ln/>
        </p:spPr>
      </p:sp>
      <p:sp>
        <p:nvSpPr>
          <p:cNvPr id="15" name="Text 12"/>
          <p:cNvSpPr/>
          <p:nvPr/>
        </p:nvSpPr>
        <p:spPr>
          <a:xfrm>
            <a:off x="1651000" y="6731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tratar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C1–C6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qualquer correlação observada seria espúria. O destaque é o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C1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é ele que faz a correlação ingênua parecer um efeito causal — como veremos no Resultado 1.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0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Metodologia — Duas Etapas Encadeadas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1016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Estado da arte — Chernozhukov et al., 2018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006600"/>
            <a:ext cx="7048500" cy="406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2006600"/>
            <a:ext cx="70485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006600"/>
            <a:ext cx="6667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ETAPA 1 · MODELO HEDÔNICO (ML)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500" y="2692400"/>
            <a:ext cx="66675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Objetivo: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estimar o "preço justo" do jogador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ln(fee) — log do valor da transação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Features: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idade, idade², log(market value), posição, liga, temporada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Saída: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resíduo Y = ln(P) − ln(P̂)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 </a:t>
            </a:r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"sobrepreço" puro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74000" y="3810000"/>
            <a:ext cx="508000" cy="0"/>
          </a:xfrm>
          <a:prstGeom prst="straightConnector1">
            <a:avLst/>
          </a:prstGeom>
          <a:noFill/>
          <a:ln w="38100">
            <a:solidFill>
              <a:srgbClr val="C75B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445500" y="2006600"/>
            <a:ext cx="7048500" cy="406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2006600"/>
            <a:ext cx="7048500" cy="508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2006600"/>
            <a:ext cx="6667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ETAPA 2 · DOUBLE ML (CAUSAL)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36000" y="2692400"/>
            <a:ext cx="66675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Objetivo: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isolar o efeito causal da liquidez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 (tratamento):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 da receita de vendas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 (resultado):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resíduo hedônico (Etapa 1)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 (confund.):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rede + elenco + liga + temporada (19)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Técnica: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ortogonalização de Neyman + cross-fitting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2000" y="6350000"/>
            <a:ext cx="14732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6350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separação garante que o resíduo Y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contenha o comportamento financeiro do clube — esse fica reservado para os confundidores W da Etapa 2.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0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Etapa 1 — Modelo Hedônico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Funil de dados + 4 modelos + interpretabilidade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1968500"/>
            <a:ext cx="4064000" cy="2476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0955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FUNIL DE DADOS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2500" y="2476500"/>
            <a:ext cx="3683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44.627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movimentações brutas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filtro: pagas, ≥ €250k, MV válido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5.146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transferências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temporadas · 7 ligas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07000" y="1968500"/>
          <a:ext cx="10287000" cy="2286000"/>
        </p:xfrm>
        <a:graphic>
          <a:graphicData uri="http://schemas.openxmlformats.org/drawingml/2006/table">
            <a:tbl>
              <a:tblPr/>
              <a:tblGrid>
                <a:gridCol w="2880360"/>
                <a:gridCol w="1851660"/>
                <a:gridCol w="1851660"/>
                <a:gridCol w="1851660"/>
                <a:gridCol w="18516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CV R²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Test RMSE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Test R²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XGBoost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0,722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0,694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0,746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LightGBM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0,729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0,683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0,755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Random Forest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0,731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0,673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75B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0,762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75B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 Escolhido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SVR (RBF)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0,708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0,716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0,730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457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PROTOCOLO DE VALIDAÇÃO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62000" y="4953000"/>
            <a:ext cx="8890000" cy="165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5080000"/>
            <a:ext cx="8432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Split temporal: treina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2017–2024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testa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(sem vazamento)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Resíduo gerado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out-of-fold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(cross_val_predict) — sem vazamento in-sample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log_mv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domina no SHAP; nenhuma feature do clube comprador entra (por design)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033000" y="457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RANKING SHAP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033000" y="4953000"/>
            <a:ext cx="5461000" cy="2222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33000" y="4953000"/>
            <a:ext cx="50800" cy="2222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19"/>
          <p:cNvSpPr/>
          <p:nvPr/>
        </p:nvSpPr>
        <p:spPr>
          <a:xfrm>
            <a:off x="10287000" y="5080000"/>
            <a:ext cx="50038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log_mv (market value)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age / age²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liga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posição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temporada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0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Etapa 2 — Double Machine Learning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Como isolamos o efeito causal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057400"/>
            <a:ext cx="4699000" cy="165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1336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C75B3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0500" y="2184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TRATAMENTO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2500" y="26035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da receita de vendas do clube na temporada (liquidez recente)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78500" y="2057400"/>
            <a:ext cx="4699000" cy="1651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69000" y="2133600"/>
            <a:ext cx="444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77000" y="2184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69000" y="26035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Resíduo hedônico da Etapa 1 — o sobrepreço acima do valor justo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795000" y="2057400"/>
            <a:ext cx="4699000" cy="165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0" y="2057400"/>
            <a:ext cx="50800" cy="165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2133600"/>
            <a:ext cx="57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684000" y="2184400"/>
            <a:ext cx="368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CONFUNDIDORES (19)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49000" y="2603500"/>
            <a:ext cx="425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PageRank e graus na rede, tamanho de elenco, 7 dummies de temporada, 6 de liga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2000" y="4064000"/>
            <a:ext cx="14732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4165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ORTOGONALIZAÇÃO DE NEYMAN + CROSS-FITTING (5 FOLDS)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16000" y="4508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Tiramos de Y e de D tudo o que os confundidores W explicam (Ỹ, D̃) e estimamos θ na variação que sobra —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exógena por construção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Erros-padrão HC1 e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CLUSTERIZADOS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clube×temporada (974 clusters).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5651500"/>
            <a:ext cx="14732000" cy="635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5651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Etapa 1: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Ỹ = Y − ĝ(W)    →   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Etapa 2: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θ̂ = (Ỹ · D̃) / (D̃²)    onde    D̃ = D − m̂(W)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71000" y="419100"/>
            <a:ext cx="1270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Resultado 1 — A Reviravolta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correlação mente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62000" y="1968500"/>
          <a:ext cx="7874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9017000" y="1968500"/>
            <a:ext cx="6477000" cy="4318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4" name="Shape 11"/>
          <p:cNvSpPr/>
          <p:nvPr/>
        </p:nvSpPr>
        <p:spPr>
          <a:xfrm>
            <a:off x="9017000" y="1968500"/>
            <a:ext cx="50800" cy="4318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5" name="Text 12"/>
          <p:cNvSpPr/>
          <p:nvPr/>
        </p:nvSpPr>
        <p:spPr>
          <a:xfrm>
            <a:off x="9271000" y="21336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QUE ACONTECEU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71000" y="2540000"/>
            <a:ext cx="5969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OLS ingênuo: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θ = 0,0142* — significativo. "Prova" o prêmio do vendedor.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ML: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θ = 0,0044 — IC cruza zero (HC1 e cluster). Não significativo.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Placebo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 embaralhado): θ ≈ 0,002 — quase do tamanho do efeito real.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correlação bruta era, em grande parte, o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confundidor 'clube rico'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Shape 15"/>
          <p:cNvSpPr/>
          <p:nvPr/>
        </p:nvSpPr>
        <p:spPr>
          <a:xfrm>
            <a:off x="10795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90500" y="101203"/>
                </a:moveTo>
                <a:cubicBezTo>
                  <a:pt x="200397" y="101203"/>
                  <a:pt x="208359" y="109165"/>
                  <a:pt x="208359" y="119063"/>
                </a:cubicBezTo>
                <a:lnTo>
                  <a:pt x="208359" y="202406"/>
                </a:lnTo>
                <a:cubicBezTo>
                  <a:pt x="208359" y="212303"/>
                  <a:pt x="200397" y="220266"/>
                  <a:pt x="190500" y="220266"/>
                </a:cubicBezTo>
                <a:cubicBezTo>
                  <a:pt x="180603" y="220266"/>
                  <a:pt x="172641" y="212303"/>
                  <a:pt x="172641" y="202406"/>
                </a:cubicBezTo>
                <a:lnTo>
                  <a:pt x="172641" y="119063"/>
                </a:lnTo>
                <a:cubicBezTo>
                  <a:pt x="172641" y="109165"/>
                  <a:pt x="180603" y="101203"/>
                  <a:pt x="190500" y="101203"/>
                </a:cubicBezTo>
                <a:close/>
                <a:moveTo>
                  <a:pt x="170631" y="261938"/>
                </a:moveTo>
                <a:cubicBezTo>
                  <a:pt x="170179" y="254563"/>
                  <a:pt x="173857" y="247546"/>
                  <a:pt x="180180" y="243722"/>
                </a:cubicBezTo>
                <a:cubicBezTo>
                  <a:pt x="186502" y="239898"/>
                  <a:pt x="194424" y="239898"/>
                  <a:pt x="200746" y="243722"/>
                </a:cubicBezTo>
                <a:cubicBezTo>
                  <a:pt x="207068" y="247546"/>
                  <a:pt x="210746" y="254563"/>
                  <a:pt x="210294" y="261937"/>
                </a:cubicBezTo>
                <a:cubicBezTo>
                  <a:pt x="210746" y="269312"/>
                  <a:pt x="207068" y="276329"/>
                  <a:pt x="200746" y="280153"/>
                </a:cubicBezTo>
                <a:cubicBezTo>
                  <a:pt x="194424" y="283977"/>
                  <a:pt x="186502" y="283977"/>
                  <a:pt x="180180" y="280153"/>
                </a:cubicBezTo>
                <a:cubicBezTo>
                  <a:pt x="173857" y="276329"/>
                  <a:pt x="170179" y="269312"/>
                  <a:pt x="170631" y="261938"/>
                </a:cubicBezTo>
                <a:close/>
              </a:path>
            </a:pathLst>
          </a:custGeom>
          <a:solidFill>
            <a:srgbClr val="C75B3A"/>
          </a:solidFill>
          <a:ln/>
        </p:spPr>
      </p:sp>
      <p:sp>
        <p:nvSpPr>
          <p:cNvPr id="19" name="Text 16"/>
          <p:cNvSpPr/>
          <p:nvPr/>
        </p:nvSpPr>
        <p:spPr>
          <a:xfrm>
            <a:off x="1651000" y="6731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o DML, teríamos publicado um efeito que, na média de 8 temporadas,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existe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71000" y="419100"/>
            <a:ext cx="1270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Resultado 2 — Onde o Efeito Vive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achado central: condicional ao regime de mercado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62000" y="1968500"/>
          <a:ext cx="9525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016500" y="1968500"/>
            <a:ext cx="1143000" cy="4064000"/>
          </a:xfrm>
          <a:prstGeom prst="rect">
            <a:avLst/>
          </a:prstGeom>
          <a:solidFill>
            <a:srgbClr val="C75B3A">
              <a:alpha val="13333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223000" y="1968500"/>
            <a:ext cx="1143000" cy="4064000"/>
          </a:xfrm>
          <a:prstGeom prst="rect">
            <a:avLst/>
          </a:prstGeom>
          <a:solidFill>
            <a:srgbClr val="C75B3A">
              <a:alpha val="13333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668000" y="1968500"/>
            <a:ext cx="4826000" cy="406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6" name="Shape 13"/>
          <p:cNvSpPr/>
          <p:nvPr/>
        </p:nvSpPr>
        <p:spPr>
          <a:xfrm>
            <a:off x="10668000" y="1968500"/>
            <a:ext cx="50800" cy="4064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7" name="Text 14"/>
          <p:cNvSpPr/>
          <p:nvPr/>
        </p:nvSpPr>
        <p:spPr>
          <a:xfrm>
            <a:off x="10922000" y="21336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INTERPRETAÇÃO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22000" y="2540000"/>
            <a:ext cx="431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Na média, efeito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nulo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Mas por temporada a história muda.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2022 (+6,4%)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2023 (+4,7%)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únicos significativos, sobrevivem a Bonferroni/FDR.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Anos do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boom pós-COVID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escassez de talento + urgência de reposição.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Demais 6 anos: indistinguível de zero.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62000" y="6350000"/>
            <a:ext cx="14732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000" y="635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prêmio do vendedor não é lei universal — emerge em mercado aquecido.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71000" y="419100"/>
            <a:ext cx="1270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Resultado 3 — O Mecanismo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Honestidade: a conjectura inicial não se sustenta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4732000" cy="2286000"/>
        </p:xfrm>
        <a:graphic>
          <a:graphicData uri="http://schemas.openxmlformats.org/drawingml/2006/table">
            <a:tbl>
              <a:tblPr/>
              <a:tblGrid>
                <a:gridCol w="4419600"/>
                <a:gridCol w="2946400"/>
                <a:gridCol w="3683000"/>
                <a:gridCol w="36830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Tratamento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θ (bruto)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 controle 'clube ativo'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Conclusão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D₁ = log(receita €)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0,004 n.s.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Não significativo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D₂ = log(nº de vendas)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75B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0,049 *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0,015 (p=0,40) n.s.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75B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Perde significância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D₃ = venda blockbuster &gt;€30M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75B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0,075 *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0,005 (p=0,86) n.s.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75B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Perde significância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4699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2000" y="5080000"/>
            <a:ext cx="7048500" cy="228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5080000"/>
            <a:ext cx="50800" cy="2286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52070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bruto, D₂/D₃ eram significativos → sugeria que o que importa é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sinalizar necessidade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 ao controlar por "clube de janela movimentada" (nº de compras + gasto),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ambos perdem toda a significância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sinal era em boa parte "clube ativo compra e vende muito".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28000" y="5080000"/>
            <a:ext cx="7366000" cy="228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Shape 15"/>
          <p:cNvSpPr/>
          <p:nvPr/>
        </p:nvSpPr>
        <p:spPr>
          <a:xfrm>
            <a:off x="8445500" y="527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C75B3A"/>
          </a:solidFill>
          <a:ln/>
        </p:spPr>
      </p:sp>
      <p:sp>
        <p:nvSpPr>
          <p:cNvPr id="19" name="Text 16"/>
          <p:cNvSpPr/>
          <p:nvPr/>
        </p:nvSpPr>
        <p:spPr>
          <a:xfrm>
            <a:off x="8890000" y="5270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45500" y="5715000"/>
            <a:ext cx="679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"mecanismo de sinalização" é hipótese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EXPLORATÓRIA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não achado confirmado.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 resultados sólidos são o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Achado 1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 correlação mente) e o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efeito sazonal 2022–2023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71000" y="419100"/>
            <a:ext cx="1270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Resultado 4 — Robustez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Blindando o achado de 2022–2023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032000"/>
            <a:ext cx="3429000" cy="266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2032000"/>
            <a:ext cx="3429000" cy="635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2606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PLACEBO DENTRO DA SAFRA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2500" y="2819400"/>
            <a:ext cx="304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Permuta D em 2022/2023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24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θ → ~0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= 0,005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08500" y="2032000"/>
            <a:ext cx="3429000" cy="266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08500" y="2032000"/>
            <a:ext cx="34290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699000" y="22606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SENSIBILIDADE AO CORTE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99000" y="2819400"/>
            <a:ext cx="304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ATE nulo em todos os cortes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2022/2023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estáveis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€0 a €1M: estável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55000" y="2032000"/>
            <a:ext cx="3429000" cy="266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5000" y="2032000"/>
            <a:ext cx="34290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8445500" y="22606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TRATAMENTO DEFASADO (C2)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45500" y="2819400"/>
            <a:ext cx="304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 enfraquece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causalidade reversa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θ lag(t−1) = +0,005* (persiste)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001500" y="2032000"/>
            <a:ext cx="3492500" cy="266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0" y="2032000"/>
            <a:ext cx="34925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0" y="2260600"/>
            <a:ext cx="311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VALUE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192000" y="28194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24–27% — força que um confundidor omitido precisaria ter (em D e Y) para anular 2022/2023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2000" y="508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INFERÊNCIA LEVADA A SÉRIO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2000" y="5461000"/>
            <a:ext cx="14732000" cy="165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55880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Erros-padrão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clusterizados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clube×temporada (974 clusters) — não tratamos 5.146 obs como independentes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Correção de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múltiplas comparações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(Bonferroni + FDR) nos 8 testes sazonais — 2022/2023 sobrevivem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Placebos globais (D embaralhado, ruído) ≈ 0 — o modelo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inventa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efeito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938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Conclusões &amp; Implicações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prêmio existe — sob condições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032000"/>
            <a:ext cx="4699000" cy="279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159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C75B3A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Nulo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52500" y="28575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Efeito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MÉDIO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8 temporadas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correlação ingênua mentia — o Double ML revelou que, na média, o prêmio do vendedor não existe.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78500" y="2032000"/>
            <a:ext cx="4699000" cy="2794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2159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2022–23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969000" y="28575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Efeito significativo só no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boom pós-COVID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+6,4% (2022) e +4,7% (2023) — robustos a todos os testes de validação.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95000" y="2032000"/>
            <a:ext cx="4699000" cy="279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95000" y="2032000"/>
            <a:ext cx="50800" cy="2794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2159000"/>
            <a:ext cx="4254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Regime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1049000" y="2857500"/>
            <a:ext cx="4254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importa mais que o volume de caixa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prêmio emerge em mercado aquecido e some no restante. Não é uma lei universal.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2000" y="527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IMPLICAÇÕES PRÁTICAS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2000" y="5651500"/>
            <a:ext cx="14732000" cy="215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000" y="59055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25" name="Text 23"/>
          <p:cNvSpPr/>
          <p:nvPr/>
        </p:nvSpPr>
        <p:spPr>
          <a:xfrm>
            <a:off x="1270000" y="5778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 de compra: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mercado aquecido, comprar logo após uma grande venda é caro. Quem pode esperar leva vantagem.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16000" y="66675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27" name="Text 25"/>
          <p:cNvSpPr/>
          <p:nvPr/>
        </p:nvSpPr>
        <p:spPr>
          <a:xfrm>
            <a:off x="1270000" y="6540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Inteligência de mercado: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IVB aponta clubes mais vulneráveis ao prêmio (ilustrativo — base para scouting financeiro).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82000" y="59055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0" y="5778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Alerta metodológico: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OLS ingênuo levaria à conclusão errada.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Correlação não é causalidade.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PERGUNTA &amp; HIPÓTESE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2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0" y="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0"/>
            <a:ext cx="254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938000" y="419100"/>
            <a:ext cx="1524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dirty="0">
                <a:solidFill>
                  <a:srgbClr val="1B3A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Limitações &amp; Trabalho Futuro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que reconhecemos honestamente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03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LIMITAÇÕES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2000" y="2413000"/>
            <a:ext cx="7048500" cy="482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2413000"/>
            <a:ext cx="50800" cy="4826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1400" y="26670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2565400"/>
            <a:ext cx="628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Granularidade sazonal: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tratamento é por temporada, não por dia. O efeito da janela de 30 dias está diluído → estimativa conservadora.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1400" y="38100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3708400"/>
            <a:ext cx="628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Identificação por observáveis: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C1 controlado por proxies (sem bloco financeiro direto, que seria bad control). O Robustness Value mitiga, mas não substitui um instrumento.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41400" y="51816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5080000"/>
            <a:ext cx="628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performance individual: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não integramos gols/xG/assistências (FBref). O modelo hedônico captura valor de mercado, não produtividade.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1400" y="6477000"/>
            <a:ext cx="127000" cy="1270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63754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IVB via R-learner: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ranking ilustrativo; CausalForestDML (econml) daria resultado mais robusto.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91500" y="203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spc="200" kern="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TRABALHO FUTURO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91500" y="2413000"/>
            <a:ext cx="7302500" cy="4699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9000" y="2667000"/>
            <a:ext cx="6667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Datas diárias (lag de curto prazo conclusivo)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PSM (Propensity Score Matching)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Curva de decaimento θ(Δt)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Análise do lado vendedor ("clubes predadores")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Instrumento para C1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Integração de dados de performance (FBref)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C75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CausalForestDML para IVB robusto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2000" y="8737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TP4 DemoDay · Grupo 02 · Efeito Dominó no Mercado de Transferências · UFMG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113000" y="8737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1651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"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524000" y="2667000"/>
            <a:ext cx="1320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"O prêmio do vendedor não é uma lei do mercado — ele emerge nas janelas de mercado aquecido, e some no restante."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12000" y="4572000"/>
            <a:ext cx="2032000" cy="38100"/>
          </a:xfrm>
          <a:prstGeom prst="rect">
            <a:avLst/>
          </a:prstGeom>
          <a:solidFill>
            <a:srgbClr val="C75B3A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4889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Obrigado!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8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Estamos à disposição para perguntas.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6477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 02 · Ciência de Dados Aplicada ao Futebol · UFMG</a:t>
            </a:r>
            <a:endParaRPr lang="en-US" sz="1400" dirty="0"/>
          </a:p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Carlos · César · Letícia · Lucas · Lucca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736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06 / 2026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Dominó no Mercado de Transferências de Futebol</dc:title>
  <dc:subject>Efeito Dominó no Mercado de Transferências de Futebol</dc:subject>
  <dc:creator>Kimi</dc:creator>
  <cp:lastModifiedBy>Kimi</cp:lastModifiedBy>
  <cp:revision>1</cp:revision>
  <dcterms:created xsi:type="dcterms:W3CDTF">2026-06-19T14:31:24Z</dcterms:created>
  <dcterms:modified xsi:type="dcterms:W3CDTF">2026-06-19T14:31:24Z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{"Label":"Efeito Dominó no Mercado de Transferências de Futebol","ContentProducer":"001191110108MACG2KBH8F10000","ProduceID":"19ee0370-34b2-8655-8000-000089b41ce3","ReservedCode1":"","ContentPropagator":"001191110108MACG2KBH8F20000","PropagateID":"19ee0338-7d52-859a-8000-09e14a463d1b","ReservedCode2":""}</vt:lpwstr>
  </property>
</Properties>
</file>