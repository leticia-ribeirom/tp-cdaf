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27D60"/>
                </a:solidFill>
                <a:latin typeface="Calibri"/>
              </a:rPr>
              <a:t>TP4 · DemoDay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Efeito Dominó no Mercado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de Transferências de Futebol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1F5F9"/>
                </a:solidFill>
                <a:latin typeface="Calibri"/>
              </a:rPr>
              <a:t>Existe um "prêmio do vendedor"? Uma abordagem causal (Double 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Grupo 02  ·  Ciência de Dados Aplicada ao Futebol  ·  UFMG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218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Carlos · César · Letícia · Lucas · Lucca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25 / 06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Contexto &amp;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O mercado de transferências como rede de dependências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E27D60"/>
                </a:solidFill>
                <a:latin typeface="Calibri"/>
              </a:rPr>
              <a:t>•  </a:t>
            </a:r>
            <a:r>
              <a:rPr sz="1500" b="0">
                <a:solidFill>
                  <a:srgbClr val="1F2A44"/>
                </a:solidFill>
                <a:latin typeface="Calibri"/>
              </a:rPr>
              <a:t>Quando um clube faz uma </a:t>
            </a:r>
            <a:r>
              <a:rPr sz="1500" b="1">
                <a:solidFill>
                  <a:srgbClr val="1F2A44"/>
                </a:solidFill>
                <a:latin typeface="Calibri"/>
              </a:rPr>
              <a:t>grande venda</a:t>
            </a:r>
            <a:r>
              <a:rPr sz="1500" b="0">
                <a:solidFill>
                  <a:srgbClr val="1F2A44"/>
                </a:solidFill>
                <a:latin typeface="Calibri"/>
              </a:rPr>
              <a:t>, dois sinais chegam ao mercado ao mesmo tempo: ele tem </a:t>
            </a:r>
            <a:r>
              <a:rPr sz="1500" b="1">
                <a:solidFill>
                  <a:srgbClr val="1F2A44"/>
                </a:solidFill>
                <a:latin typeface="Calibri"/>
              </a:rPr>
              <a:t>caixa</a:t>
            </a:r>
            <a:r>
              <a:rPr sz="1500" b="0">
                <a:solidFill>
                  <a:srgbClr val="1F2A44"/>
                </a:solidFill>
                <a:latin typeface="Calibri"/>
              </a:rPr>
              <a:t> e precisa </a:t>
            </a:r>
            <a:r>
              <a:rPr sz="1500" b="1">
                <a:solidFill>
                  <a:srgbClr val="1F2A44"/>
                </a:solidFill>
                <a:latin typeface="Calibri"/>
              </a:rPr>
              <a:t>repor</a:t>
            </a:r>
            <a:r>
              <a:rPr sz="1500" b="0">
                <a:solidFill>
                  <a:srgbClr val="1F2A44"/>
                </a:solidFill>
                <a:latin typeface="Calibri"/>
              </a:rPr>
              <a:t> o jogador. Os vendedores sabem disso.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E27D60"/>
                </a:solidFill>
                <a:latin typeface="Calibri"/>
              </a:rPr>
              <a:t>•  </a:t>
            </a:r>
            <a:r>
              <a:rPr sz="1500" b="0">
                <a:solidFill>
                  <a:srgbClr val="1F2A44"/>
                </a:solidFill>
                <a:latin typeface="Calibri"/>
              </a:rPr>
              <a:t>Intuição — o </a:t>
            </a:r>
            <a:r>
              <a:rPr sz="1500" b="1">
                <a:solidFill>
                  <a:srgbClr val="1F2A44"/>
                </a:solidFill>
                <a:latin typeface="Calibri"/>
              </a:rPr>
              <a:t>"efeito dominó"</a:t>
            </a:r>
            <a:r>
              <a:rPr sz="1500" b="0">
                <a:solidFill>
                  <a:srgbClr val="1F2A44"/>
                </a:solidFill>
                <a:latin typeface="Calibri"/>
              </a:rPr>
              <a:t>: esse clube perde poder de barganha e passa a pagar </a:t>
            </a:r>
            <a:r>
              <a:rPr sz="1500" b="1">
                <a:solidFill>
                  <a:srgbClr val="1F2A44"/>
                </a:solidFill>
                <a:latin typeface="Calibri"/>
              </a:rPr>
              <a:t>acima do valor justo</a:t>
            </a:r>
            <a:r>
              <a:rPr sz="1500" b="0">
                <a:solidFill>
                  <a:srgbClr val="1F2A44"/>
                </a:solidFill>
                <a:latin typeface="Calibri"/>
              </a:rPr>
              <a:t> nas compras seguintes.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10972800" cy="13716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703320"/>
            <a:ext cx="109728" cy="1371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A armadilha óbvia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/>
              </a:rPr>
              <a:t>Clubes ricos vendem caro E compram caro ao mesmo tempo. Como saber se o que vemos é o prêmio do vendedor — ou apenas o porte financeiro do clube? Separar as duas coisas é o desafio central do trabalho.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Pergunta &amp; Hipótese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Causal, não correlacional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1554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728" cy="155448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7D60"/>
                </a:solidFill>
                <a:latin typeface="Calibri"/>
              </a:rPr>
              <a:t>Pergunta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F2A44"/>
                </a:solidFill>
                <a:latin typeface="Calibri"/>
              </a:rPr>
              <a:t>A liquidez recente do comprador (receita de vendas na temporada) tem efeito CAUSAL sobre o sobrepreço que ele paga nas contratações seguintes, depois de neutralizar os confundidores estruturais?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Hipótese inicial (conjectura)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0">
                <a:solidFill>
                  <a:srgbClr val="1F2A44"/>
                </a:solidFill>
                <a:latin typeface="Calibri"/>
              </a:rPr>
              <a:t>Sim — e o mecanismo seria de </a:t>
            </a:r>
            <a:r>
              <a:rPr sz="1400" b="1">
                <a:solidFill>
                  <a:srgbClr val="1F2A44"/>
                </a:solidFill>
                <a:latin typeface="Calibri"/>
              </a:rPr>
              <a:t>sinalização</a:t>
            </a:r>
            <a:r>
              <a:rPr sz="1400" b="0">
                <a:solidFill>
                  <a:srgbClr val="1F2A44"/>
                </a:solidFill>
                <a:latin typeface="Calibri"/>
              </a:rPr>
              <a:t>, não de volume de dinheiro: o clube pagaria mais porque o mercado sabe que ele </a:t>
            </a:r>
            <a:r>
              <a:rPr sz="1400" b="1">
                <a:solidFill>
                  <a:srgbClr val="1F2A44"/>
                </a:solidFill>
                <a:latin typeface="Calibri"/>
              </a:rPr>
              <a:t>precisa comprar</a:t>
            </a:r>
            <a:r>
              <a:rPr sz="1400" b="0">
                <a:solidFill>
                  <a:srgbClr val="1F2A44"/>
                </a:solidFill>
                <a:latin typeface="Calibri"/>
              </a:rPr>
              <a:t>.</a:t>
            </a:r>
          </a:p>
          <a:p>
            <a:pPr lvl="1">
              <a:spcAft>
                <a:spcPts val="8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–  </a:t>
            </a:r>
            <a:r>
              <a:rPr sz="1400" b="0">
                <a:solidFill>
                  <a:srgbClr val="1F2A44"/>
                </a:solidFill>
                <a:latin typeface="Calibri"/>
              </a:rPr>
              <a:t>Guardem essa conjectura: no Resultado 3 mostramos que os dados </a:t>
            </a:r>
            <a:r>
              <a:rPr sz="1400" b="1">
                <a:solidFill>
                  <a:srgbClr val="1F2A44"/>
                </a:solidFill>
                <a:latin typeface="Calibri"/>
              </a:rPr>
              <a:t>não a sustentam de forma robusta</a:t>
            </a:r>
            <a:r>
              <a:rPr sz="1400" b="0">
                <a:solidFill>
                  <a:srgbClr val="1F2A44"/>
                </a:solidFill>
                <a:latin typeface="Calibri"/>
              </a:rPr>
              <a:t> — exemplo de rigor, não de fraqueza.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A Armadilha Causal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6 confundidores mapeados antes de modelar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120640"/>
                <a:gridCol w="5212080"/>
              </a:tblGrid>
              <a:tr h="470262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Confundidor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Como tratamos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C1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Clube rico (vende caro E compra caro)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1F2A44"/>
                          </a:solidFill>
                          <a:latin typeface="Calibri"/>
                        </a:rPr>
                        <a:t>Proxies de rede (PageRank) + elenco em W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Causalidade reversa (compra → venda)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Teste de tratamento defasado (t−1)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Causa comum (UCL, troca de técnico)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Não controlado (sem dados esportivos)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C4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Sazonalidade (deadline day)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Dummies de temporada (Etapa 1 e W)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Inflação de mercado entre anos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Dummies de temporada absorvem inflação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C6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Viés de seleção do grupo tratado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  <a:latin typeface="Calibri"/>
                        </a:rPr>
                        <a:t>Proxies de rede + sensibilidade ao corte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4892040"/>
            <a:ext cx="10972800" cy="1005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92624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3D91"/>
                </a:solidFill>
                <a:latin typeface="Calibri"/>
              </a:rPr>
              <a:t>Por que isto é o coração do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85232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Sem tratar C1–C6, qualquer correlação observada seria espúria. O destaque é o C1: é ele que faz a correlação ingênua parecer um efeito causal — como veremos no Resultado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Metodologia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Duas etapas encadeadas (estado da arte — Chernozhukov et al., 2018)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3931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4572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ETAPA 1  ·  Modelo Hedônico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66544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Objetivo:</a:t>
            </a:r>
            <a:r>
              <a:rPr sz="1200">
                <a:solidFill>
                  <a:srgbClr val="1F2A44"/>
                </a:solidFill>
                <a:latin typeface="Calibri"/>
              </a:rPr>
              <a:t> estimar o "preço justo" do jogador (ML).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Target:</a:t>
            </a:r>
            <a:r>
              <a:rPr sz="1200">
                <a:solidFill>
                  <a:srgbClr val="1F2A44"/>
                </a:solidFill>
                <a:latin typeface="Calibri"/>
              </a:rPr>
              <a:t> ln(fee) — log do valor da transação.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Features:</a:t>
            </a:r>
            <a:r>
              <a:rPr sz="1200">
                <a:solidFill>
                  <a:srgbClr val="1F2A44"/>
                </a:solidFill>
                <a:latin typeface="Calibri"/>
              </a:rPr>
              <a:t> idade, idade², log(market value),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/>
            </a:r>
            <a:r>
              <a:rPr sz="1200">
                <a:solidFill>
                  <a:srgbClr val="1F2A44"/>
                </a:solidFill>
                <a:latin typeface="Calibri"/>
              </a:rPr>
              <a:t> posição, liga, temporada.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Saída:</a:t>
            </a:r>
            <a:r>
              <a:rPr sz="1200">
                <a:solidFill>
                  <a:srgbClr val="1F2A44"/>
                </a:solidFill>
                <a:latin typeface="Calibri"/>
              </a:rPr>
              <a:t> resíduo Y = ln(P) − ln(P̂)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/>
            </a:r>
            <a:r>
              <a:rPr sz="1200">
                <a:solidFill>
                  <a:srgbClr val="1F2A44"/>
                </a:solidFill>
                <a:latin typeface="Calibri"/>
              </a:rPr>
              <a:t> → o "sobrepreço" puro.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394960" cy="3931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361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ETAPA 2  ·  Double ML (causal)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66544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Objetivo:</a:t>
            </a:r>
            <a:r>
              <a:rPr sz="1200">
                <a:solidFill>
                  <a:srgbClr val="1F2A44"/>
                </a:solidFill>
                <a:latin typeface="Calibri"/>
              </a:rPr>
              <a:t> isolar o efeito causal da liquidez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/>
            </a:r>
            <a:r>
              <a:rPr sz="1200">
                <a:solidFill>
                  <a:srgbClr val="1F2A44"/>
                </a:solidFill>
                <a:latin typeface="Calibri"/>
              </a:rPr>
              <a:t> sobre o sobrepreço.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D (tratamento):</a:t>
            </a:r>
            <a:r>
              <a:rPr sz="1200">
                <a:solidFill>
                  <a:srgbClr val="1F2A44"/>
                </a:solidFill>
                <a:latin typeface="Calibri"/>
              </a:rPr>
              <a:t> log da receita de vendas.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Y (resultado):</a:t>
            </a:r>
            <a:r>
              <a:rPr sz="1200">
                <a:solidFill>
                  <a:srgbClr val="1F2A44"/>
                </a:solidFill>
                <a:latin typeface="Calibri"/>
              </a:rPr>
              <a:t> resíduo hedônico (Etapa 1).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W (confund.):</a:t>
            </a:r>
            <a:r>
              <a:rPr sz="1200">
                <a:solidFill>
                  <a:srgbClr val="1F2A44"/>
                </a:solidFill>
                <a:latin typeface="Calibri"/>
              </a:rPr>
              <a:t> rede + elenco + liga + temporada (19).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3D91"/>
                </a:solidFill>
                <a:latin typeface="Calibri"/>
              </a:rPr>
              <a:t>Técnica:</a:t>
            </a:r>
            <a:r>
              <a:rPr sz="1200">
                <a:solidFill>
                  <a:srgbClr val="1F2A44"/>
                </a:solidFill>
                <a:latin typeface="Calibri"/>
              </a:rPr>
              <a:t> ortogonalização de Neyman + cross-fitting.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89320" y="3200400"/>
            <a:ext cx="320040" cy="457200"/>
          </a:xfrm>
          <a:prstGeom prst="rightArrow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44"/>
                </a:solidFill>
                <a:latin typeface="Calibri"/>
              </a:rPr>
              <a:t>A separação garante que o resíduo Y NÃO contenha o comportamento financeiro do clube — esse fica reservado para os confundidores W da Etapa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Etapa 1 · Modelo Hedônico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Funil de dados + 4 modelos + interpretabilidade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5120640" cy="4572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9105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44.627 movimentações brutas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75688"/>
            <a:ext cx="4663440" cy="45720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filtro: pagas, ≥ €250k, MV válido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42615"/>
            <a:ext cx="4206240" cy="4572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24911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5.146 transferências · 8 temp · 7 ligas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3D91"/>
                </a:solidFill>
                <a:latin typeface="Calibri"/>
              </a:rPr>
              <a:t>Ranking SHAP (impacto)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log_mv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3822192"/>
            <a:ext cx="2743200" cy="237744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8795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age / age²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4242816"/>
            <a:ext cx="1371600" cy="237744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0857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liga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4663440"/>
            <a:ext cx="822959" cy="237744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posição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084064"/>
            <a:ext cx="493776" cy="237744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498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2A44"/>
                </a:solidFill>
                <a:latin typeface="Calibri"/>
              </a:rPr>
              <a:t>temporada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5504688"/>
            <a:ext cx="329184" cy="237744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217920" y="150876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</a:tblGrid>
              <a:tr h="43891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CV R²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Test RMSE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Test R²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0,722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0,694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0,746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0,729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0,683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0,755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F2A44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1F2A44"/>
                          </a:solidFill>
                          <a:latin typeface="Calibri"/>
                        </a:rPr>
                        <a:t>0,731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1F2A44"/>
                          </a:solidFill>
                          <a:latin typeface="Calibri"/>
                        </a:rPr>
                        <a:t>0,673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1F2A44"/>
                          </a:solidFill>
                          <a:latin typeface="Calibri"/>
                        </a:rPr>
                        <a:t>0,762</a:t>
                      </a:r>
                    </a:p>
                  </a:txBody>
                  <a:tcPr marL="64008" marR="64008" marT="27432" marB="27432">
                    <a:solidFill>
                      <a:srgbClr val="E8F5E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SVR (RBF)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0,708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0,716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  <a:latin typeface="Calibri"/>
                        </a:rPr>
                        <a:t>0,730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217920" y="3840480"/>
            <a:ext cx="5394960" cy="50292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9319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D32"/>
                </a:solidFill>
                <a:latin typeface="Calibri"/>
              </a:rPr>
              <a:t>✓ Random Forest — R² 0,76 no holdout de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526280"/>
            <a:ext cx="539496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E27D60"/>
                </a:solidFill>
                <a:latin typeface="Calibri"/>
              </a:rPr>
              <a:t>•  </a:t>
            </a:r>
            <a:r>
              <a:rPr sz="1150" b="0">
                <a:solidFill>
                  <a:srgbClr val="1F2A44"/>
                </a:solidFill>
                <a:latin typeface="Calibri"/>
              </a:rPr>
              <a:t>Split </a:t>
            </a:r>
            <a:r>
              <a:rPr sz="1150" b="1">
                <a:solidFill>
                  <a:srgbClr val="1F2A44"/>
                </a:solidFill>
                <a:latin typeface="Calibri"/>
              </a:rPr>
              <a:t>temporal</a:t>
            </a:r>
            <a:r>
              <a:rPr sz="1150" b="0">
                <a:solidFill>
                  <a:srgbClr val="1F2A44"/>
                </a:solidFill>
                <a:latin typeface="Calibri"/>
              </a:rPr>
              <a:t>: treina 2017–2024, testa 2025 (sem vazamento).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E27D60"/>
                </a:solidFill>
                <a:latin typeface="Calibri"/>
              </a:rPr>
              <a:t>•  </a:t>
            </a:r>
            <a:r>
              <a:rPr sz="1150" b="0">
                <a:solidFill>
                  <a:srgbClr val="1F2A44"/>
                </a:solidFill>
                <a:latin typeface="Calibri"/>
              </a:rPr>
              <a:t>Resíduo gerado </a:t>
            </a:r>
            <a:r>
              <a:rPr sz="1150" b="1">
                <a:solidFill>
                  <a:srgbClr val="1F2A44"/>
                </a:solidFill>
                <a:latin typeface="Calibri"/>
              </a:rPr>
              <a:t>out-of-fold</a:t>
            </a:r>
            <a:r>
              <a:rPr sz="1150" b="0">
                <a:solidFill>
                  <a:srgbClr val="1F2A44"/>
                </a:solidFill>
                <a:latin typeface="Calibri"/>
              </a:rPr>
              <a:t> (cross_val_predict) — sem vazamento in-sample.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E27D60"/>
                </a:solidFill>
                <a:latin typeface="Calibri"/>
              </a:rPr>
              <a:t>•  </a:t>
            </a:r>
            <a:r>
              <a:rPr sz="1150" b="0">
                <a:solidFill>
                  <a:srgbClr val="1F2A44"/>
                </a:solidFill>
                <a:latin typeface="Calibri"/>
              </a:rPr>
              <a:t>log_mv domina; nenhuma feature do clube comprador entra (por design).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Etapa 2 · Double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Como isolamos o efeito causal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640080" cy="64008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45336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/>
              </a:rPr>
              <a:t>Tratamento: log da receita de vendas do clube na temporada (liquidez recente).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640080" cy="64008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59736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/>
              </a:rPr>
              <a:t>Resultado: o resíduo hedônico da Etapa 1 — o sobrepreço acima do valor justo.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37560"/>
            <a:ext cx="64008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5643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374136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/>
              </a:rPr>
              <a:t>Confundidores (19): PageRank e graus na rede, tamanho de elenco, 7 dummies de temporada, 6 de liga. Controla C1, C4, C5.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89120"/>
            <a:ext cx="1097280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988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3D91"/>
                </a:solidFill>
                <a:latin typeface="Calibri"/>
              </a:rPr>
              <a:t>Ortogonalização de Neyman + cross-fitting (5 folds)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6460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44"/>
                </a:solidFill>
                <a:latin typeface="Calibri"/>
              </a:rPr>
              <a:t>Tiramos de Y e de D tudo o que os confundidores W explicam (Ỹ, D̃) e estimamos θ na variação que sobra — exógena por construção. Erros-padrão HC1 e CLUSTERIZADOS por clube×temporada (974 clusters), já que D varia nesse nível, não por transferência.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Resultado 1 · A Reviravolta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A correlação 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gre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912864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55448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O que aconteceu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011680"/>
            <a:ext cx="475488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OLS ingênuo:</a:t>
            </a:r>
            <a:r>
              <a:rPr sz="1300" b="0">
                <a:solidFill>
                  <a:srgbClr val="1F2A44"/>
                </a:solidFill>
                <a:latin typeface="Calibri"/>
              </a:rPr>
              <a:t> θ = 0,0142* — significativo. "Prova" o prêmio do vendedor.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Double ML:</a:t>
            </a:r>
            <a:r>
              <a:rPr sz="1300" b="0">
                <a:solidFill>
                  <a:srgbClr val="1F2A44"/>
                </a:solidFill>
                <a:latin typeface="Calibri"/>
              </a:rPr>
              <a:t> θ = 0,0044 — IC cruza zero (HC1 </a:t>
            </a:r>
            <a:r>
              <a:rPr sz="1300" b="1">
                <a:solidFill>
                  <a:srgbClr val="1F2A44"/>
                </a:solidFill>
                <a:latin typeface="Calibri"/>
              </a:rPr>
              <a:t>e</a:t>
            </a:r>
            <a:r>
              <a:rPr sz="1300" b="0">
                <a:solidFill>
                  <a:srgbClr val="1F2A44"/>
                </a:solidFill>
                <a:latin typeface="Calibri"/>
              </a:rPr>
              <a:t> cluster). </a:t>
            </a:r>
            <a:r>
              <a:rPr sz="1300" b="1">
                <a:solidFill>
                  <a:srgbClr val="1F2A44"/>
                </a:solidFill>
                <a:latin typeface="Calibri"/>
              </a:rPr>
              <a:t>Não significativo.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Placebo</a:t>
            </a:r>
            <a:r>
              <a:rPr sz="1300" b="0">
                <a:solidFill>
                  <a:srgbClr val="1F2A44"/>
                </a:solidFill>
                <a:latin typeface="Calibri"/>
              </a:rPr>
              <a:t> (D embaralhado): θ ≈ 0,002 — quase do tamanho do efeito real.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0">
                <a:solidFill>
                  <a:srgbClr val="1F2A44"/>
                </a:solidFill>
                <a:latin typeface="Calibri"/>
              </a:rPr>
              <a:t>A correlação bruta era, em grande parte, o </a:t>
            </a:r>
            <a:r>
              <a:rPr sz="1300" b="1">
                <a:solidFill>
                  <a:srgbClr val="1F2A44"/>
                </a:solidFill>
                <a:latin typeface="Calibri"/>
              </a:rPr>
              <a:t>confundidor 'clube rico'</a:t>
            </a:r>
            <a:r>
              <a:rPr sz="1300" b="0">
                <a:solidFill>
                  <a:srgbClr val="1F2A44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12080"/>
            <a:ext cx="4754880" cy="822960"/>
          </a:xfrm>
          <a:prstGeom prst="rect">
            <a:avLst/>
          </a:prstGeom>
          <a:solidFill>
            <a:srgbClr val="FB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7D60"/>
                </a:solidFill>
                <a:latin typeface="Calibri"/>
              </a:rPr>
              <a:t>Sem o DML, teríamos publicado um efeito que, na média de 8 temporadas, não existe.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Resultado 2 · Onde o Efeito Vive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O achado central: condicional ao regime de mercado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az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7489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554480"/>
            <a:ext cx="3749039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0">
                <a:solidFill>
                  <a:srgbClr val="1F2A44"/>
                </a:solidFill>
                <a:latin typeface="Calibri"/>
              </a:rPr>
              <a:t>Na </a:t>
            </a:r>
            <a:r>
              <a:rPr sz="1300" b="1">
                <a:solidFill>
                  <a:srgbClr val="1F2A44"/>
                </a:solidFill>
                <a:latin typeface="Calibri"/>
              </a:rPr>
              <a:t>média</a:t>
            </a:r>
            <a:r>
              <a:rPr sz="1300" b="0">
                <a:solidFill>
                  <a:srgbClr val="1F2A44"/>
                </a:solidFill>
                <a:latin typeface="Calibri"/>
              </a:rPr>
              <a:t>, efeito nulo. Mas por temporada a história muda.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2022 (+6,4%) e 2023 (+4,7%)</a:t>
            </a:r>
            <a:r>
              <a:rPr sz="1300" b="0">
                <a:solidFill>
                  <a:srgbClr val="1F2A44"/>
                </a:solidFill>
                <a:latin typeface="Calibri"/>
              </a:rPr>
              <a:t> — únicos significativos, e </a:t>
            </a:r>
            <a:r>
              <a:rPr sz="1300" b="1">
                <a:solidFill>
                  <a:srgbClr val="1F2A44"/>
                </a:solidFill>
                <a:latin typeface="Calibri"/>
              </a:rPr>
              <a:t>sobrevivem a Bonferroni/FDR</a:t>
            </a:r>
            <a:r>
              <a:rPr sz="1300" b="0">
                <a:solidFill>
                  <a:srgbClr val="1F2A44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0">
                <a:solidFill>
                  <a:srgbClr val="1F2A44"/>
                </a:solidFill>
                <a:latin typeface="Calibri"/>
              </a:rPr>
              <a:t>Anos do </a:t>
            </a:r>
            <a:r>
              <a:rPr sz="1300" b="1">
                <a:solidFill>
                  <a:srgbClr val="1F2A44"/>
                </a:solidFill>
                <a:latin typeface="Calibri"/>
              </a:rPr>
              <a:t>boom pós-COVID</a:t>
            </a:r>
            <a:r>
              <a:rPr sz="1300" b="0">
                <a:solidFill>
                  <a:srgbClr val="1F2A44"/>
                </a:solidFill>
                <a:latin typeface="Calibri"/>
              </a:rPr>
              <a:t>: escassez de talento + urgência de reposição.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7D60"/>
                </a:solidFill>
                <a:latin typeface="Calibri"/>
              </a:rPr>
              <a:t>•  </a:t>
            </a:r>
            <a:r>
              <a:rPr sz="1300" b="0">
                <a:solidFill>
                  <a:srgbClr val="1F2A44"/>
                </a:solidFill>
                <a:latin typeface="Calibri"/>
              </a:rPr>
              <a:t>Demais 6 anos: indistinguível de zero.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5257800"/>
            <a:ext cx="3749039" cy="7772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534924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O prêmio do vendedor não é lei universal — emerge em mercado aquecido.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Resultado 3 · O Mecanismo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Honestidade: a conjectura inicial não se sustenta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560320"/>
                <a:gridCol w="4389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Tratamento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θ (bruto)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Com controle de 'clube ativo'</a:t>
                      </a:r>
                    </a:p>
                  </a:txBody>
                  <a:tcPr marL="64008" marR="64008" marT="27432" marB="27432">
                    <a:solidFill>
                      <a:srgbClr val="0B3D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D₁ = log(receita €)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0,004  n.s.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D₂ = log(nº de vendas)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0,049 *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0,015  (p=0,40)  n.s.</a:t>
                      </a:r>
                    </a:p>
                  </a:txBody>
                  <a:tcPr marL="64008" marR="64008" marT="27432" marB="27432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D₃ = venda blockbuster &gt;€30M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0,075 *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2A44"/>
                          </a:solidFill>
                          <a:latin typeface="Calibri"/>
                        </a:rPr>
                        <a:t>0,005  (p=0,86)  n.s.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56616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0">
                <a:solidFill>
                  <a:srgbClr val="1F2A44"/>
                </a:solidFill>
                <a:latin typeface="Calibri"/>
              </a:rPr>
              <a:t>No bruto, D₂/D₃ eram significativos → </a:t>
            </a:r>
            <a:r>
              <a:rPr sz="1400" b="1">
                <a:solidFill>
                  <a:srgbClr val="1F2A44"/>
                </a:solidFill>
                <a:latin typeface="Calibri"/>
              </a:rPr>
              <a:t>sugeria</a:t>
            </a:r>
            <a:r>
              <a:rPr sz="1400" b="0">
                <a:solidFill>
                  <a:srgbClr val="1F2A44"/>
                </a:solidFill>
                <a:latin typeface="Calibri"/>
              </a:rPr>
              <a:t> que o que importa é sinalizar necessidade.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MAS</a:t>
            </a:r>
            <a:r>
              <a:rPr sz="1400" b="0">
                <a:solidFill>
                  <a:srgbClr val="1F2A44"/>
                </a:solidFill>
                <a:latin typeface="Calibri"/>
              </a:rPr>
              <a:t> ao controlar por "clube de janela movimentada" (nº de compras + gasto), </a:t>
            </a:r>
            <a:r>
              <a:rPr sz="1400" b="1">
                <a:solidFill>
                  <a:srgbClr val="1F2A44"/>
                </a:solidFill>
                <a:latin typeface="Calibri"/>
              </a:rPr>
              <a:t>ambos perdem toda a significância</a:t>
            </a:r>
            <a:r>
              <a:rPr sz="1400" b="0">
                <a:solidFill>
                  <a:srgbClr val="1F2A44"/>
                </a:solidFill>
                <a:latin typeface="Calibri"/>
              </a:rPr>
              <a:t>. O sinal era em boa parte "clube ativo compra e vende muito".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212080"/>
            <a:ext cx="10972800" cy="868680"/>
          </a:xfrm>
          <a:prstGeom prst="rect">
            <a:avLst/>
          </a:prstGeom>
          <a:solidFill>
            <a:srgbClr val="FB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21808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27D60"/>
                </a:solidFill>
                <a:latin typeface="Calibri"/>
              </a:rPr>
              <a:t>Conclusão: o "mecanismo de sinalização" é hipótese EXPLORATÓRIA, não achado confirmado. Os resultados sólidos são o Achado 1 (a correlação mente) e o efeito sazonal 2022–2023.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Resultado 4 ·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Blindando o achado de 2022–2023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2615184" cy="2286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2615184" cy="914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6420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Placebo dentro</a:t>
            </a:r>
          </a:p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da safra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31720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27D60"/>
                </a:solidFill>
                <a:latin typeface="Calibri"/>
              </a:rPr>
              <a:t>p = 0,005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71800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F2A44"/>
                </a:solidFill>
                <a:latin typeface="Calibri"/>
              </a:rPr>
              <a:t>permuta D em 2022/2023 → θ colapsa para ~0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8144" y="1508760"/>
            <a:ext cx="2615184" cy="2286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508760"/>
            <a:ext cx="2615184" cy="914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66420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Sensibilidade</a:t>
            </a:r>
          </a:p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ao corte de fee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331720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27D60"/>
                </a:solidFill>
                <a:latin typeface="Calibri"/>
              </a:rPr>
              <a:t>€0–€1M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971800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F2A44"/>
                </a:solidFill>
                <a:latin typeface="Calibri"/>
              </a:rPr>
              <a:t>ATE nulo em todos; 2022/2023 estáveis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508760"/>
            <a:ext cx="2615184" cy="2286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508760"/>
            <a:ext cx="2615184" cy="914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66420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Robustness</a:t>
            </a:r>
          </a:p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331720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27D60"/>
                </a:solidFill>
                <a:latin typeface="Calibri"/>
              </a:rPr>
              <a:t>24–27%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971800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F2A44"/>
                </a:solidFill>
                <a:latin typeface="Calibri"/>
              </a:rPr>
              <a:t>força que um confundidor omitido precisaria 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4272" y="1508760"/>
            <a:ext cx="2615184" cy="2286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508760"/>
            <a:ext cx="2615184" cy="914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66420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Tratamento</a:t>
            </a:r>
          </a:p>
          <a:p>
            <a:pPr algn="ctr"/>
            <a:r>
              <a:rPr sz="1250" b="1" i="0">
                <a:solidFill>
                  <a:srgbClr val="0B3D91"/>
                </a:solidFill>
                <a:latin typeface="Calibri"/>
              </a:rPr>
              <a:t>defasado (C2)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331720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27D60"/>
                </a:solidFill>
                <a:latin typeface="Calibri"/>
              </a:rPr>
              <a:t>não concl.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71800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1F2A44"/>
                </a:solidFill>
                <a:latin typeface="Calibri"/>
              </a:rPr>
              <a:t>lag enfraquece causalidade reversa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114800"/>
            <a:ext cx="109728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245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3D91"/>
                </a:solidFill>
                <a:latin typeface="Calibri"/>
              </a:rPr>
              <a:t>Inferência levada a sério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17720"/>
            <a:ext cx="1060704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 b="0">
                <a:solidFill>
                  <a:srgbClr val="1F2A44"/>
                </a:solidFill>
                <a:latin typeface="Calibri"/>
              </a:rPr>
              <a:t>Erros-padrão </a:t>
            </a:r>
            <a:r>
              <a:rPr sz="1200" b="1">
                <a:solidFill>
                  <a:srgbClr val="1F2A44"/>
                </a:solidFill>
                <a:latin typeface="Calibri"/>
              </a:rPr>
              <a:t>clusterizados</a:t>
            </a:r>
            <a:r>
              <a:rPr sz="1200" b="0">
                <a:solidFill>
                  <a:srgbClr val="1F2A44"/>
                </a:solidFill>
                <a:latin typeface="Calibri"/>
              </a:rPr>
              <a:t> por clube×temporada (974 clusters) — não tratamos 5.146 obs como independentes.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Correção de múltiplas comparações</a:t>
            </a:r>
            <a:r>
              <a:rPr sz="1200" b="0">
                <a:solidFill>
                  <a:srgbClr val="1F2A44"/>
                </a:solidFill>
                <a:latin typeface="Calibri"/>
              </a:rPr>
              <a:t> (Bonferroni + FDR) nos 8 testes sazonais — 2022/2023 sobrevivem.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E27D60"/>
                </a:solidFill>
                <a:latin typeface="Calibri"/>
              </a:rPr>
              <a:t>•  </a:t>
            </a:r>
            <a:r>
              <a:rPr sz="1200" b="0">
                <a:solidFill>
                  <a:srgbClr val="1F2A44"/>
                </a:solidFill>
                <a:latin typeface="Calibri"/>
              </a:rPr>
              <a:t>Placebos globais (D embaralhado, ruído) ≈ 0 — o modelo não inventa efeito.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Conclusões &amp; Implicações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O prêmio existe — sob condições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3566160" cy="20116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3566160" cy="9144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B3D91"/>
                </a:solidFill>
                <a:latin typeface="Calibri"/>
              </a:rPr>
              <a:t>Nulo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F2A44"/>
                </a:solidFill>
                <a:latin typeface="Calibri"/>
              </a:rPr>
              <a:t>efeito MÉDIO em 8 temporadas</a:t>
            </a:r>
          </a:p>
          <a:p>
            <a:pPr algn="ctr"/>
            <a:r>
              <a:rPr sz="1150" b="0" i="0">
                <a:solidFill>
                  <a:srgbClr val="1F2A44"/>
                </a:solidFill>
                <a:latin typeface="Calibri"/>
              </a:rPr>
              <a:t>(a correlação ingênua mentia)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463040"/>
            <a:ext cx="3566160" cy="20116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463040"/>
            <a:ext cx="3566160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47088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E7D32"/>
                </a:solidFill>
                <a:latin typeface="Calibri"/>
              </a:rPr>
              <a:t>2022–23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8803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F2A44"/>
                </a:solidFill>
                <a:latin typeface="Calibri"/>
              </a:rPr>
              <a:t>efeito significativo só no</a:t>
            </a:r>
          </a:p>
          <a:p>
            <a:pPr algn="ctr"/>
            <a:r>
              <a:rPr sz="1150" b="0" i="0">
                <a:solidFill>
                  <a:srgbClr val="1F2A44"/>
                </a:solidFill>
                <a:latin typeface="Calibri"/>
              </a:rPr>
              <a:t>boom pós-COVID (robusto)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566160" cy="20116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463040"/>
            <a:ext cx="3566160" cy="9144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847088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27D60"/>
                </a:solidFill>
                <a:latin typeface="Calibri"/>
              </a:rPr>
              <a:t>Regime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8803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F2A44"/>
                </a:solidFill>
                <a:latin typeface="Calibri"/>
              </a:rPr>
              <a:t>o timing importa mais que</a:t>
            </a:r>
          </a:p>
          <a:p>
            <a:pPr algn="ctr"/>
            <a:r>
              <a:rPr sz="1150" b="0" i="0">
                <a:solidFill>
                  <a:srgbClr val="1F2A44"/>
                </a:solidFill>
                <a:latin typeface="Calibri"/>
              </a:rPr>
              <a:t>o volume de caixa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Implicações práticas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E27D60"/>
                </a:solidFill>
                <a:latin typeface="Calibri"/>
              </a:rPr>
              <a:t>•  </a:t>
            </a:r>
            <a:r>
              <a:rPr sz="1350" b="1">
                <a:solidFill>
                  <a:srgbClr val="1F2A44"/>
                </a:solidFill>
                <a:latin typeface="Calibri"/>
              </a:rPr>
              <a:t>Timing de compra:</a:t>
            </a:r>
            <a:r>
              <a:rPr sz="1350" b="0">
                <a:solidFill>
                  <a:srgbClr val="1F2A44"/>
                </a:solidFill>
                <a:latin typeface="Calibri"/>
              </a:rPr>
              <a:t> em mercado aquecido, comprar logo após uma grande venda é caro. Quem pode esperar leva vantagem.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E27D60"/>
                </a:solidFill>
                <a:latin typeface="Calibri"/>
              </a:rPr>
              <a:t>•  </a:t>
            </a:r>
            <a:r>
              <a:rPr sz="1350" b="1">
                <a:solidFill>
                  <a:srgbClr val="1F2A44"/>
                </a:solidFill>
                <a:latin typeface="Calibri"/>
              </a:rPr>
              <a:t>Inteligência de mercado:</a:t>
            </a:r>
            <a:r>
              <a:rPr sz="1350" b="0">
                <a:solidFill>
                  <a:srgbClr val="1F2A44"/>
                </a:solidFill>
                <a:latin typeface="Calibri"/>
              </a:rPr>
              <a:t> o IVB aponta clubes mais vulneráveis ao prêmio (ilustrativo — base para scouting financeiro).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E27D60"/>
                </a:solidFill>
                <a:latin typeface="Calibri"/>
              </a:rPr>
              <a:t>•  </a:t>
            </a:r>
            <a:r>
              <a:rPr sz="1350" b="1">
                <a:solidFill>
                  <a:srgbClr val="1F2A44"/>
                </a:solidFill>
                <a:latin typeface="Calibri"/>
              </a:rPr>
              <a:t>Alerta metodológico:</a:t>
            </a:r>
            <a:r>
              <a:rPr sz="1350" b="0">
                <a:solidFill>
                  <a:srgbClr val="1F2A44"/>
                </a:solidFill>
                <a:latin typeface="Calibri"/>
              </a:rPr>
              <a:t> o OLS ingênuo levaria à conclusão errada. Correlação não é causalidade.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3D91"/>
                </a:solidFill>
                <a:latin typeface="Calibri"/>
              </a:rPr>
              <a:t>Limitações &amp; Trabalho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O que reconhecemos honestamente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1280160" cy="45720"/>
          </a:xfrm>
          <a:prstGeom prst="rect">
            <a:avLst/>
          </a:prstGeom>
          <a:solidFill>
            <a:srgbClr val="E27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Granularidade sazonal:</a:t>
            </a:r>
            <a:r>
              <a:rPr sz="1400" b="0">
                <a:solidFill>
                  <a:srgbClr val="1F2A44"/>
                </a:solidFill>
                <a:latin typeface="Calibri"/>
              </a:rPr>
              <a:t> o tratamento é por temporada, não por dia. O efeito da janela de 30 dias está diluído → estimativa conservadora.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Identificação por observáveis:</a:t>
            </a:r>
            <a:r>
              <a:rPr sz="1400" b="0">
                <a:solidFill>
                  <a:srgbClr val="1F2A44"/>
                </a:solidFill>
                <a:latin typeface="Calibri"/>
              </a:rPr>
              <a:t> C1 controlado por proxies (sem bloco financeiro direto, que seria bad control). O Robustness Value mitiga, mas não substitui um instrumento.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Sem performance individual:</a:t>
            </a:r>
            <a:r>
              <a:rPr sz="1400" b="0">
                <a:solidFill>
                  <a:srgbClr val="1F2A44"/>
                </a:solidFill>
                <a:latin typeface="Calibri"/>
              </a:rPr>
              <a:t> não integramos gols/xG/assistências (FBref).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E27D60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IVB via R-learner:</a:t>
            </a:r>
            <a:r>
              <a:rPr sz="1400" b="0">
                <a:solidFill>
                  <a:srgbClr val="1F2A44"/>
                </a:solidFill>
                <a:latin typeface="Calibri"/>
              </a:rPr>
              <a:t> ranking ilustrativo; CausalForestDML (econml) daria resultado mais robusto.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1389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B3D91"/>
                </a:solidFill>
                <a:latin typeface="Calibri"/>
              </a:rPr>
              <a:t>Trabalho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6811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A44"/>
                </a:solidFill>
                <a:latin typeface="Calibri"/>
              </a:rPr>
              <a:t>Datas diárias (lag de curto prazo conclusivo) · PSM · curva de decaimento θ(Δt) · análise do lado vendedor ("clubes predadores") · instrumento para C1.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TP4 DemoDay · Grupo 02 · Efeito Dominó no Mercado de Transferências · UFMG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1">
                <a:solidFill>
                  <a:srgbClr val="FFFFFF"/>
                </a:solidFill>
                <a:latin typeface="Calibri"/>
              </a:rPr>
              <a:t>"O prêmio do vendedor não é uma lei do mercado — ele emerge nas janelas de mercado aquecido, e some no restante."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27D60"/>
                </a:solidFill>
                <a:latin typeface="Calibri"/>
              </a:rPr>
              <a:t>Obrigado!  ·  Estamos à disposição para perguntas.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Grupo 02 · Ciência de Dados Aplicada ao Futebol · UFMG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